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4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WEEKLY UPDATE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874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日本の生成AIは「普及」から「実装」へ動き出した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40156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2026年8月時点・主要6ニュース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日本の生成AI政策は「普及促進」から「実運用ガバナンス」のフェーズへ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591056"/>
            <a:ext cx="91440" cy="1847088"/>
          </a:xfrm>
          <a:prstGeom prst="rect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7824" y="1618488"/>
            <a:ext cx="6364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333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政府はAI事業者向けに著作権・知的財産を保護する新ルールの整備を進めている。学習データや生成物を巡る権利侵害リスクへの対応が焦点。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726680" y="1618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4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26680" y="20116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著作権・知財保護ルールを生成AI事業者向けに整備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26680" y="26700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学習データ・生成物の権利侵害リスクへの対応範囲を明確化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26680" y="332841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国内AI産業の成長と権利者保護のバランスが論点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日本企業の課題はAI導入率ではなく、「PoCから業務プロセスへ組み込む力」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3429000" cy="3584448"/>
          </a:xfrm>
          <a:prstGeom prst="rect">
            <a:avLst/>
          </a:prstGeom>
          <a:noFill/>
          <a:ln w="889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" y="1938528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AIエージェント本番運用、調査対象国で最下位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0976" y="4453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4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SOURCE-BACKED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98848" y="1773936"/>
            <a:ext cx="5806440" cy="530352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PoC・実証実験から本番運用への移行が進まない企業が依然多い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2505456"/>
            <a:ext cx="5806440" cy="530352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26334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既存システム連携、データ基盤、権限設計、組織体制が実用化の障壁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AI活用の単位が「ツール」から「デジタルワーカー」へ変わり始めた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42232" y="2551176"/>
            <a:ext cx="292608" cy="18288"/>
          </a:xfrm>
          <a:prstGeom prst="line">
            <a:avLst/>
          </a:prstGeom>
          <a:noFill/>
          <a:ln w="15240">
            <a:solidFill>
              <a:srgbClr val="00E4A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49808" y="2304288"/>
            <a:ext cx="502920" cy="502920"/>
          </a:xfrm>
          <a:prstGeom prst="ellipse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340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3054096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社内実践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602736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IBM自身が4000超のデジタルワーカーと人間が協働する業務環境を構築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08976" y="2551176"/>
            <a:ext cx="292608" cy="18288"/>
          </a:xfrm>
          <a:prstGeom prst="line">
            <a:avLst/>
          </a:prstGeom>
          <a:noFill/>
          <a:ln w="15240">
            <a:solidFill>
              <a:srgbClr val="00E4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16552" y="2304288"/>
            <a:ext cx="502920" cy="502920"/>
          </a:xfrm>
          <a:prstGeom prst="ellipse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340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6552" y="3054096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導入支援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16552" y="3602736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「IBM Enterprise Advantage」の国内展開を本格化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2304288"/>
            <a:ext cx="502920" cy="502920"/>
          </a:xfrm>
          <a:prstGeom prst="ellipse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3296" y="23408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83296" y="3054096"/>
            <a:ext cx="3410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役割転換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83296" y="3602736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単純利用からAIエージェントが業務フローの主体へ移行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生成AIの次の競争軸として、日本でもPhysical AIの産業化が始まる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稼働ヒューマノイド台数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80360" y="1664208"/>
            <a:ext cx="7040880" cy="219456"/>
          </a:xfrm>
          <a:prstGeom prst="rect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累計学習データ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2231136"/>
            <a:ext cx="1056132" cy="219456"/>
          </a:xfrm>
          <a:prstGeom prst="rect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5560" y="2212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30万時間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779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導入意向台数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798064"/>
            <a:ext cx="3520440" cy="219456"/>
          </a:xfrm>
          <a:prstGeom prst="rect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55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国産AIは民間PoCだけでなく、安全保障インフラへ実装され始めている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755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防衛省の情報分析業務へのAI活用を支援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4140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自衛隊の指揮統制システム高度化にも既に関与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日本のAI投資は大企業限定のテーマから、中堅・中小企業の標準IT投資へ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887468" y="1481328"/>
            <a:ext cx="2377440" cy="2377440"/>
          </a:xfrm>
          <a:prstGeom prst="blockArc">
            <a:avLst>
              <a:gd name="adj1" fmla="val 10800000"/>
              <a:gd name="adj2" fmla="val 0"/>
              <a:gd name="adj3" fmla="val 14000"/>
            </a:avLst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87468" y="1481328"/>
            <a:ext cx="2377440" cy="2377440"/>
          </a:xfrm>
          <a:prstGeom prst="blockArc">
            <a:avLst>
              <a:gd name="adj1" fmla="val 10800000"/>
              <a:gd name="adj2" fmla="val 3240000"/>
              <a:gd name="adj3" fmla="val 14000"/>
            </a:avLst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87468" y="2242109"/>
            <a:ext cx="23774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</a:t>
            </a:r>
            <a:endParaRPr lang="en-US" sz="2340" dirty="0"/>
          </a:p>
        </p:txBody>
      </p:sp>
      <p:sp>
        <p:nvSpPr>
          <p:cNvPr id="6" name="Text 4"/>
          <p:cNvSpPr/>
          <p:nvPr/>
        </p:nvSpPr>
        <p:spPr>
          <a:xfrm>
            <a:off x="4887468" y="295534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AI/生成AIに100万円以上投資予定の中堅・中小企業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AIは実証から実装へ、規模を問わず標準装備になりつつある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9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ガバナンス整備・エージェント本番化・フィジカルAI・安全保障・SMB投資が同時に進行している。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0" y="1554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E4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ACTIONS / EVIDENCE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0" y="2011680"/>
            <a:ext cx="5577840" cy="493776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011680"/>
            <a:ext cx="109728" cy="493776"/>
          </a:xfrm>
          <a:prstGeom prst="rect">
            <a:avLst/>
          </a:prstGeom>
          <a:solidFill>
            <a:srgbClr val="00E4A8"/>
          </a:solidFill>
          <a:ln w="12700">
            <a:solidFill>
              <a:srgbClr val="00E4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85232" y="2121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ガバナンス整備とPoC突破が同時進行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2724912"/>
            <a:ext cx="5577840" cy="493776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0" y="2724912"/>
            <a:ext cx="109728" cy="4937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2834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エージェント・フィジカルAIへ実装領域が拡大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438144"/>
            <a:ext cx="5577840" cy="493776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3438144"/>
            <a:ext cx="109728" cy="4937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35478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投資は大企業から中堅・中小企業へ裾野拡大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64240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Weekly Update — 2026年8月</dc:title>
  <dc:subject>internal</dc:subject>
  <dc:creator>Claude Code /ppt</dc:creator>
  <cp:lastModifiedBy>Claude Code /ppt</cp:lastModifiedBy>
  <cp:revision>1</cp:revision>
  <dcterms:created xsi:type="dcterms:W3CDTF">2026-08-28T05:43:49Z</dcterms:created>
  <dcterms:modified xsi:type="dcterms:W3CDTF">2026-08-28T05:43:49Z</dcterms:modified>
</cp:coreProperties>
</file>